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3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09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795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2319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59969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1455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2333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31747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9056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0864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53813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6238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709814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9974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51715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9964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14397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31396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4449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605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548640" y="201168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Taller Práctico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Protección de Datos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al taller, fundamentos de seguridad de la información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panorama de ciberseguridad en Chile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la sesión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143000" y="172821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Explicar cómo se articulan la línea jurídica y el taller práctico durante el trimestre.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143000" y="247802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Describir el proyecto integrador: qué se construye, en qué hitos y cómo se evalúa.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143000" y="322783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Reconocer los tres atributos de la seguridad de la información (CIA) y dar un ejemplo técnico de cada uno.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143000" y="39776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Dimensionar, con cifras y casos reales, por qué la protección de datos es un problema urgente en Chile.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823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82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143000" y="472744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Haber formado su grupo de trabajo y elegido el caso de sistema sobre el que construirán el proyecto.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latin typeface="Cambria" pitchFamily="34" charset="0"/>
                <a:ea typeface="Cambria" pitchFamily="34" charset="-122"/>
                <a:cs typeface="Cambria" pitchFamily="34" charset="-120"/>
              </a:rPr>
              <a:t>Finalidad</a:t>
            </a: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 de la </a:t>
            </a:r>
            <a:r>
              <a:rPr lang="en-US" sz="2800" b="1" dirty="0" err="1">
                <a:latin typeface="Cambria" pitchFamily="34" charset="0"/>
                <a:ea typeface="Cambria" pitchFamily="34" charset="-122"/>
                <a:cs typeface="Cambria" pitchFamily="34" charset="-120"/>
              </a:rPr>
              <a:t>asignatura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r>
              <a:rPr lang="en-US" sz="14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asignatura</a:t>
            </a:r>
            <a:r>
              <a:rPr lang="en-US" sz="1450" dirty="0">
                <a:latin typeface="Arial" pitchFamily="34" charset="0"/>
                <a:ea typeface="Arial" pitchFamily="34" charset="-122"/>
                <a:cs typeface="Arial" pitchFamily="34" charset="-120"/>
              </a:rPr>
              <a:t> traduce, en código y arquitectura, los principios y la normativa que revisan los jueves con el abogado. No basta con conocer la ley: hay que saber construir sistemas que la cumplan.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074920" cy="1234440"/>
          </a:xfrm>
          <a:prstGeom prst="rect">
            <a:avLst/>
          </a:prstGeom>
          <a:solidFill>
            <a:srgbClr val="F5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9260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Oficial de Protección de Datos (DPO)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5584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latin typeface="Arial" pitchFamily="34" charset="0"/>
                <a:ea typeface="Arial" pitchFamily="34" charset="-122"/>
                <a:cs typeface="Arial" pitchFamily="34" charset="-120"/>
              </a:rPr>
              <a:t>Traduce requisitos legales en controles verificables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2788920"/>
            <a:ext cx="5074920" cy="1234440"/>
          </a:xfrm>
          <a:prstGeom prst="rect">
            <a:avLst/>
          </a:prstGeom>
          <a:solidFill>
            <a:srgbClr val="F5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29260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Ingeniero de seguridad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335584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latin typeface="Arial" pitchFamily="34" charset="0"/>
                <a:ea typeface="Arial" pitchFamily="34" charset="-122"/>
                <a:cs typeface="Arial" pitchFamily="34" charset="-120"/>
              </a:rPr>
              <a:t>Diseña e implementa los controles técnicos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074920" cy="1234440"/>
          </a:xfrm>
          <a:prstGeom prst="rect">
            <a:avLst/>
          </a:prstGeom>
          <a:solidFill>
            <a:srgbClr val="F5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434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Arquitecto de cumplimiento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8646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latin typeface="Arial" pitchFamily="34" charset="0"/>
                <a:ea typeface="Arial" pitchFamily="34" charset="-122"/>
                <a:cs typeface="Arial" pitchFamily="34" charset="-120"/>
              </a:rPr>
              <a:t>Diseña sistemas que son "compliant" desde el diseño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0" y="4297680"/>
            <a:ext cx="5074920" cy="1234440"/>
          </a:xfrm>
          <a:prstGeom prst="rect">
            <a:avLst/>
          </a:prstGeom>
          <a:solidFill>
            <a:srgbClr val="F5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4434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Desarrollador consciente de la privacidad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48646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latin typeface="Arial" pitchFamily="34" charset="0"/>
                <a:ea typeface="Arial" pitchFamily="34" charset="-122"/>
                <a:cs typeface="Arial" pitchFamily="34" charset="-120"/>
              </a:rPr>
              <a:t>Aplica minimización y buenas prácticas en cada línea de código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 el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3794760"/>
          </a:xfrm>
          <a:prstGeom prst="rect">
            <a:avLst/>
          </a:prstGeom>
          <a:solidFill>
            <a:srgbClr val="F5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12064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5120640" cy="594360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JUEVES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Marco Jurídico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1752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Dictada por el docente abogado.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Principios, normativa y casos jurídicos.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Se evalúa con la mitad jurídica de cada certamen.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Base conceptual para la sesión práctica del día siguiente.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120640" cy="3794760"/>
          </a:xfrm>
          <a:prstGeom prst="rect">
            <a:avLst/>
          </a:prstGeom>
          <a:solidFill>
            <a:srgbClr val="F5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783080"/>
            <a:ext cx="5120640" cy="59436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783080"/>
            <a:ext cx="5120640" cy="59436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446520" y="2560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Taller Práctico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01752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Dictada por el docente de informática (esta sesión).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Laboratorios e implementación técnica.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Se evalúa con la mitad práctica de cada certamen.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Cada requisito legal se traduce en un control técnico concreto.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El recorrido del trimestre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Tres pares temáticos que avanzan coordinados, más el proyecto integrador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14600" cy="3291840"/>
          </a:xfrm>
          <a:prstGeom prst="rect">
            <a:avLst/>
          </a:prstGeom>
          <a:solidFill>
            <a:srgbClr val="F5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2514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2514600" cy="50292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S1-S3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3063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Jueves: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37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Fundamentos y Principios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114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Viernes: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891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Identificación y Mapeo de Datos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19272" y="2011680"/>
            <a:ext cx="2514600" cy="3291840"/>
          </a:xfrm>
          <a:prstGeom prst="rect">
            <a:avLst/>
          </a:prstGeom>
          <a:solidFill>
            <a:srgbClr val="F5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9272" y="2011680"/>
            <a:ext cx="2514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19272" y="2011680"/>
            <a:ext cx="2514600" cy="50292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S4-S6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502152" y="3063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Jueves: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502152" y="3337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Categorías Especiales y Derechos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502152" y="4114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Viernes: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43891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Privacidad desde el Diseño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9904" y="2011680"/>
            <a:ext cx="2514600" cy="3291840"/>
          </a:xfrm>
          <a:prstGeom prst="rect">
            <a:avLst/>
          </a:prstGeom>
          <a:solidFill>
            <a:srgbClr val="F5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9904" y="2011680"/>
            <a:ext cx="2514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089904" y="2011680"/>
            <a:ext cx="2514600" cy="50292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S7-S9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272784" y="3063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Jueves: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272784" y="3337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Cumplimiento y Autoridades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272784" y="4114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Viernes: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272784" y="43891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Consentimiento e Incidentes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60536" y="2011680"/>
            <a:ext cx="2514600" cy="3291840"/>
          </a:xfrm>
          <a:prstGeom prst="rect">
            <a:avLst/>
          </a:prstGeom>
          <a:solidFill>
            <a:srgbClr val="F5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60536" y="2011680"/>
            <a:ext cx="2514600" cy="5029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860536" y="2011680"/>
            <a:ext cx="2514600" cy="50292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S10-S12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9043416" y="3063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Jueves: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043416" y="3337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Consolidación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043416" y="4114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Viernes: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043416" y="43891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Proyecto Integrador + Examen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El proyecto integrador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Un mismo producto de software que se construye durante todo el trimestre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18288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5" name="Text 3"/>
          <p:cNvSpPr txBox="1"/>
          <p:nvPr/>
        </p:nvSpPr>
        <p:spPr>
          <a:xfrm>
            <a:off x="548640" y="2011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2-3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34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personas por grupo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06240" y="1828800"/>
            <a:ext cx="3291840" cy="18288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8" name="Text 6"/>
          <p:cNvSpPr txBox="1"/>
          <p:nvPr/>
        </p:nvSpPr>
        <p:spPr>
          <a:xfrm>
            <a:off x="4200302" y="2011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834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casos de sistema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a elegir (lista cerrada)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1828800"/>
            <a:ext cx="3291840" cy="18288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11" name="Text 9"/>
          <p:cNvSpPr txBox="1"/>
          <p:nvPr/>
        </p:nvSpPr>
        <p:spPr>
          <a:xfrm>
            <a:off x="7863840" y="2011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2834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hitos técnicos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(cierre de T1, T2, T3)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53247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Hoy: formamos los grupos y elegimos el caso sobre el que trabajaremos las próximas 12 semanas.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Cómo se evalúa el curso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Cada certamen combina la parte jurídica y la práctica, 50/50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103120" cy="4572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Instrumento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828800"/>
            <a:ext cx="2103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26080" y="1828800"/>
            <a:ext cx="2103120" cy="4572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Fecha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0" y="1828800"/>
            <a:ext cx="10058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0" y="1828800"/>
            <a:ext cx="1005840" cy="4572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Peso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2103120" cy="594360"/>
          </a:xfrm>
          <a:prstGeom prst="rect">
            <a:avLst/>
          </a:prstGeom>
          <a:solidFill>
            <a:srgbClr val="F5F8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Certamen 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0" y="2331720"/>
            <a:ext cx="2103120" cy="594360"/>
          </a:xfrm>
          <a:prstGeom prst="rect">
            <a:avLst/>
          </a:prstGeom>
          <a:solidFill>
            <a:srgbClr val="F5F8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35808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Arial" pitchFamily="34" charset="0"/>
                <a:ea typeface="Arial" pitchFamily="34" charset="-122"/>
                <a:cs typeface="Arial" pitchFamily="34" charset="-120"/>
              </a:rPr>
              <a:t>Semana 6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03520" y="2331720"/>
            <a:ext cx="1005840" cy="594360"/>
          </a:xfrm>
          <a:prstGeom prst="rect">
            <a:avLst/>
          </a:prstGeom>
          <a:solidFill>
            <a:srgbClr val="F5F8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3248" y="23317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2953512"/>
            <a:ext cx="21031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29535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Certamen 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26080" y="2953512"/>
            <a:ext cx="21031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35808" y="29535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Arial" pitchFamily="34" charset="0"/>
                <a:ea typeface="Arial" pitchFamily="34" charset="-122"/>
                <a:cs typeface="Arial" pitchFamily="34" charset="-120"/>
              </a:rPr>
              <a:t>Semana 9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303520" y="2953512"/>
            <a:ext cx="10058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13248" y="295351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575304"/>
            <a:ext cx="2103120" cy="594360"/>
          </a:xfrm>
          <a:prstGeom prst="rect">
            <a:avLst/>
          </a:prstGeom>
          <a:solidFill>
            <a:srgbClr val="F5F8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357530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Examen final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926080" y="3575304"/>
            <a:ext cx="2103120" cy="594360"/>
          </a:xfrm>
          <a:prstGeom prst="rect">
            <a:avLst/>
          </a:prstGeom>
          <a:solidFill>
            <a:srgbClr val="F5F8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35808" y="357530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Arial" pitchFamily="34" charset="0"/>
                <a:ea typeface="Arial" pitchFamily="34" charset="-122"/>
                <a:cs typeface="Arial" pitchFamily="34" charset="-120"/>
              </a:rPr>
              <a:t>Semana 12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303520" y="3575304"/>
            <a:ext cx="1005840" cy="594360"/>
          </a:xfrm>
          <a:prstGeom prst="rect">
            <a:avLst/>
          </a:prstGeom>
          <a:solidFill>
            <a:srgbClr val="F5F8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13248" y="357530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4510367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No hay eximición: al ser un proyecto grupal, todos rinden el examen final de defensa.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Reglas del proyecto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Logística que necesitan saber desde hoy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0136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Grupos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80136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De 2 a 3 personas, formados hoy. Se mantienen fijos durante todo el trimestre.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7801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Hitos técnicos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7622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Al cierre de cada unidad del taller: </a:t>
            </a:r>
            <a:r>
              <a:rPr lang="en-US" sz="12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Semana</a:t>
            </a: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 3, </a:t>
            </a:r>
            <a:r>
              <a:rPr lang="en-US" sz="12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Semana</a:t>
            </a: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 6, </a:t>
            </a:r>
            <a:r>
              <a:rPr lang="en-US" sz="12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Semana</a:t>
            </a: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 9.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72160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Herramientas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72920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El stack tecnológico específico se confirmará antes de la Semana 2.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63090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Entrega final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4630902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Defensa del producto completo en la Semana 12, ante ambos docentes.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seguridad de la información?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Cuatro conceptos que vamos a usar durante todo el curso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16002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5" name="Text 3"/>
          <p:cNvSpPr txBox="1"/>
          <p:nvPr/>
        </p:nvSpPr>
        <p:spPr>
          <a:xfrm>
            <a:off x="822960" y="2011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Activo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Cualquier elemento de valor para la organización: una base de datos, un servidor, o los propios datos personales.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828800"/>
            <a:ext cx="5074920" cy="16002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8" name="Text 6"/>
          <p:cNvSpPr txBox="1"/>
          <p:nvPr/>
        </p:nvSpPr>
        <p:spPr>
          <a:xfrm>
            <a:off x="6217920" y="2011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Amenaza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42316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Un evento o agente que puede causar daño a un activo: un atacante, un error humano, un desastre natural.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074920" cy="16002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11" name="Text 9"/>
          <p:cNvSpPr txBox="1"/>
          <p:nvPr/>
        </p:nvSpPr>
        <p:spPr>
          <a:xfrm>
            <a:off x="822960" y="38862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Vulnerabilidad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976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Una debilidad en un sistema que una amenaza puede explotar: una contraseña débil, un software sin parchar.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3703320"/>
            <a:ext cx="5074920" cy="16002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14" name="Text 12"/>
          <p:cNvSpPr txBox="1"/>
          <p:nvPr/>
        </p:nvSpPr>
        <p:spPr>
          <a:xfrm>
            <a:off x="6217920" y="38862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42976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La probabilidad de que una amenaza explote una vulnerabilidad, y el impacto que eso tendría sobre un activo.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El triángulo CIA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Todo control de seguridad protege al menos uno de estos tres atributos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889608" y="1554480"/>
            <a:ext cx="2468880" cy="246888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5" name="Text 3"/>
          <p:cNvSpPr txBox="1"/>
          <p:nvPr/>
        </p:nvSpPr>
        <p:spPr>
          <a:xfrm>
            <a:off x="1981048" y="234452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Confidencialidad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706728" y="41605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Solo quienes están autorizados pueden acceder a la información.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61408" y="1554480"/>
            <a:ext cx="2468880" cy="246888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8" name="Text 6"/>
          <p:cNvSpPr txBox="1"/>
          <p:nvPr/>
        </p:nvSpPr>
        <p:spPr>
          <a:xfrm>
            <a:off x="4952848" y="234452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Integridad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678528" y="41605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Los datos no se alteran de forma indebida, accidental o maliciosa.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33208" y="1554480"/>
            <a:ext cx="2468880" cy="246888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11" name="Text 9"/>
          <p:cNvSpPr txBox="1"/>
          <p:nvPr/>
        </p:nvSpPr>
        <p:spPr>
          <a:xfrm>
            <a:off x="7924648" y="234452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650328" y="41605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La información y los sistemas están accesibles cuando se necesitan.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10515600" cy="123444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14" name="Text 12"/>
          <p:cNvSpPr txBox="1"/>
          <p:nvPr/>
        </p:nvSpPr>
        <p:spPr>
          <a:xfrm>
            <a:off x="822960" y="5166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En el sistema que van a construir: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45896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Confidencialidad → cifrado de campos sensibles, control de acceso por rol.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Integridad → hashes, validaciones, control de versiones de los datos.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Disponibilidad → respaldos, planes de continuidad, monitoreo.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Dos principios complementarios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CIA no basta para explicar todo lo que necesitamos garantizar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74920" cy="2103120"/>
          </a:xfrm>
          <a:prstGeom prst="rect">
            <a:avLst/>
          </a:prstGeom>
          <a:solidFill>
            <a:srgbClr val="F5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50749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5074920" cy="54864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Confirmar que alguien es quien dice ser antes de darle acceso: contraseñas, MFA, biometría.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2011680"/>
            <a:ext cx="5074920" cy="2103120"/>
          </a:xfrm>
          <a:prstGeom prst="rect">
            <a:avLst/>
          </a:prstGeom>
          <a:solidFill>
            <a:srgbClr val="F5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2011680"/>
            <a:ext cx="50749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89320" y="2011680"/>
            <a:ext cx="5074920" cy="54864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repudio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309360" y="278892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Garantizar que una acción quede registrada de forma que su autor no pueda negar haberla realizado: firmas digitales, logs de auditoría.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Panorama de ciberseguridad en Chile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Cifras que dimensionan por qué este taller existe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383280" cy="1783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6" name="Text 4"/>
          <p:cNvSpPr txBox="1"/>
          <p:nvPr/>
        </p:nvSpPr>
        <p:spPr>
          <a:xfrm>
            <a:off x="731520" y="1828800"/>
            <a:ext cx="3017520" cy="6858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8,8 billones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3017520" cy="82296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(8,8 millones de millones) de intentos de ciberataque en Chile durante 2025, frente a 27.600 millones en 2024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691640"/>
            <a:ext cx="3383280" cy="1783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9" name="Text 7"/>
          <p:cNvSpPr txBox="1"/>
          <p:nvPr/>
        </p:nvSpPr>
        <p:spPr>
          <a:xfrm>
            <a:off x="4434840" y="1828800"/>
            <a:ext cx="3017520" cy="6858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560320"/>
            <a:ext cx="3017520" cy="82296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de los hospitales del país reportó brechas de datos en 2024; salud y finanzas son los sectores más golpeados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55280" y="1691640"/>
            <a:ext cx="3383280" cy="1783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12" name="Text 10"/>
          <p:cNvSpPr txBox="1"/>
          <p:nvPr/>
        </p:nvSpPr>
        <p:spPr>
          <a:xfrm>
            <a:off x="8138160" y="1828800"/>
            <a:ext cx="3017520" cy="6858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22.473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2560320"/>
            <a:ext cx="3017520" cy="82296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incidentes gestionados por el CSIRT de Gobierno en 2021, un 46% más que el año anterior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03320"/>
            <a:ext cx="10515600" cy="77724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Contexto regional: en 2022, Chile fue el 7º país de Latinoamérica con más incidencias de ransomware, y el phishing es la amenaza que más ha crecido en el país en los últimos años.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72000"/>
            <a:ext cx="10515600" cy="77724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Chile posee una madurez normativa avanzada (Ley 21.663), pero su capacidad operativa sigue siendo desigual: se es más eficiente notificando el incidente que detectándolo tempranamente.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60720"/>
            <a:ext cx="10058400" cy="36576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Fuentes: Prey Project, Entel Ocean, CSIRT de Gobierno, Guía Minera de Chile — cifras ilustrativas para la clase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Línea de tiempo: incidentes reales en Chile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Casos que marcaron un antes y un después en la industria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0584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100584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8013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Banco de Chile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80136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latin typeface="Arial" pitchFamily="34" charset="0"/>
                <a:ea typeface="Arial" pitchFamily="34" charset="-122"/>
                <a:cs typeface="Arial" pitchFamily="34" charset="-120"/>
              </a:rPr>
              <a:t>Malware distractor afecta más de 9.000 PCs mientras se sustraen ~US$10M vía SWIFT.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0584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06040"/>
            <a:ext cx="100584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578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Banco Consorcio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57860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latin typeface="Arial" pitchFamily="34" charset="0"/>
                <a:ea typeface="Arial" pitchFamily="34" charset="-122"/>
                <a:cs typeface="Arial" pitchFamily="34" charset="-120"/>
              </a:rPr>
              <a:t>Ciberataque resulta en el robo de aproximadamente US$2 millones.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00584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383280"/>
            <a:ext cx="100584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3558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Redbanc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35584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latin typeface="Arial" pitchFamily="34" charset="0"/>
                <a:ea typeface="Arial" pitchFamily="34" charset="-122"/>
                <a:cs typeface="Arial" pitchFamily="34" charset="-120"/>
              </a:rPr>
              <a:t>Filtración de datos de 41.593 tarjetas de crédito y débito, vía un proveedor externo.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00584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160520"/>
            <a:ext cx="100584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41330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Filtración global de Facebook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13308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latin typeface="Arial" pitchFamily="34" charset="0"/>
                <a:ea typeface="Arial" pitchFamily="34" charset="-122"/>
                <a:cs typeface="Arial" pitchFamily="34" charset="-120"/>
              </a:rPr>
              <a:t>Cerca de 7 millones de registros de usuarios chilenos expuestos en una fuga masiva.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00584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937760"/>
            <a:ext cx="1005840" cy="6400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49103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ClaveÚnica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491032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latin typeface="Arial" pitchFamily="34" charset="0"/>
                <a:ea typeface="Arial" pitchFamily="34" charset="-122"/>
                <a:cs typeface="Arial" pitchFamily="34" charset="-120"/>
              </a:rPr>
              <a:t>Filtración por credenciales </a:t>
            </a:r>
            <a:r>
              <a:rPr lang="en-US" sz="11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comprometidas</a:t>
            </a:r>
            <a:r>
              <a:rPr lang="en-US" sz="11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exponiendo</a:t>
            </a:r>
            <a:r>
              <a:rPr lang="en-US" sz="1150" dirty="0">
                <a:latin typeface="Arial" pitchFamily="34" charset="0"/>
                <a:ea typeface="Arial" pitchFamily="34" charset="-122"/>
                <a:cs typeface="Arial" pitchFamily="34" charset="-120"/>
              </a:rPr>
              <a:t> datos de personas y organismos públicos.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¿Qué tienen en común estos casos?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Patrones que vamos a atacar directamente en el taller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1600200"/>
          </a:xfrm>
          <a:prstGeom prst="rect">
            <a:avLst/>
          </a:prstGeom>
          <a:solidFill>
            <a:srgbClr val="F5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Terceros y proveedores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5059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latin typeface="Arial" pitchFamily="34" charset="0"/>
                <a:ea typeface="Arial" pitchFamily="34" charset="-122"/>
                <a:cs typeface="Arial" pitchFamily="34" charset="-120"/>
              </a:rPr>
              <a:t>Varios incidentes (Redbanc) se originaron en un proveedor externo, no en la organización misma.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1828800"/>
            <a:ext cx="5074920" cy="1600200"/>
          </a:xfrm>
          <a:prstGeom prst="rect">
            <a:avLst/>
          </a:prstGeom>
          <a:solidFill>
            <a:srgbClr val="F5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Ausencia de segundo factor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45059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latin typeface="Arial" pitchFamily="34" charset="0"/>
                <a:ea typeface="Arial" pitchFamily="34" charset="-122"/>
                <a:cs typeface="Arial" pitchFamily="34" charset="-120"/>
              </a:rPr>
              <a:t>Casos como el del Banco Central o cuentas institucionales carecían de autenticación multifactor.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074920" cy="1600200"/>
          </a:xfrm>
          <a:prstGeom prst="rect">
            <a:avLst/>
          </a:prstGeom>
          <a:solidFill>
            <a:srgbClr val="F5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886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Credenciales comprometidas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32511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latin typeface="Arial" pitchFamily="34" charset="0"/>
                <a:ea typeface="Arial" pitchFamily="34" charset="-122"/>
                <a:cs typeface="Arial" pitchFamily="34" charset="-120"/>
              </a:rPr>
              <a:t>El vector más común hoy no es una intrusión sofisticada, sino contraseñas robadas o reutilizadas.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0" y="3703320"/>
            <a:ext cx="5074920" cy="1600200"/>
          </a:xfrm>
          <a:prstGeom prst="rect">
            <a:avLst/>
          </a:prstGeom>
          <a:solidFill>
            <a:srgbClr val="F5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3886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Falta de cifrado en reposo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432511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latin typeface="Arial" pitchFamily="34" charset="0"/>
                <a:ea typeface="Arial" pitchFamily="34" charset="-122"/>
                <a:cs typeface="Arial" pitchFamily="34" charset="-120"/>
              </a:rPr>
              <a:t>Datos sensibles almacenados sin cifrar amplifican el impacto de cualquier brecha.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le importa esto a un desarrollador?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463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El código es donde la ley se cumple (o se incumple)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745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Un principio legal como "minimización" o "consentimiento revocable" solo existe de verdad si está implementado en el sistema.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La seguridad técnica es evidencia de cumplimiento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461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Cifrado, control de acceso y logs de auditoría son la forma en que un responsable demuestra la "debida diligencia" exigida por la ley.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206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Los incidentes tienen consecuencias legales, no solo técnicas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6177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Una brecha mal gestionada implica sanciones, indemnizaciones y pérdida de </a:t>
            </a:r>
            <a:r>
              <a:rPr lang="en-US" sz="13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confianza</a:t>
            </a: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, no solo un bug que corregir.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1920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Actividad: formación de grupos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y elección del caso</a:t>
            </a:r>
            <a:endParaRPr lang="en-US" sz="3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Actividad de hoy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Formen </a:t>
            </a:r>
            <a:r>
              <a:rPr lang="en-US" sz="15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grupos</a:t>
            </a: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8308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De 2 a 3 personas. Estos grupos se mantienen durante todo el trimestre.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77440"/>
            <a:ext cx="502920" cy="50292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3317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Elijan </a:t>
            </a:r>
            <a:r>
              <a:rPr lang="en-US" sz="15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caso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9748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Uno de los 4 casos propuestos. Si dos grupos quieren el mismo caso, se resuelve por sorteo.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2461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Primera </a:t>
            </a:r>
            <a:r>
              <a:rPr lang="en-US" sz="15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exploración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61188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En equipo, </a:t>
            </a:r>
            <a:r>
              <a:rPr lang="en-US" sz="12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anoten</a:t>
            </a: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, sin investigar aún a </a:t>
            </a:r>
            <a:r>
              <a:rPr lang="en-US" sz="12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fondo</a:t>
            </a: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, qué datos personales creen que su sistema recolectaría.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605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Compartan</a:t>
            </a: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brevemente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52628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latin typeface="Arial" pitchFamily="34" charset="0"/>
                <a:ea typeface="Arial" pitchFamily="34" charset="-122"/>
                <a:cs typeface="Arial" pitchFamily="34" charset="-120"/>
              </a:rPr>
              <a:t>Cada grupo cuenta en 1 minuto su caso y una primera impresión de qué datos maneja.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latin typeface="Arial" pitchFamily="34" charset="0"/>
                <a:ea typeface="Arial" pitchFamily="34" charset="-122"/>
                <a:cs typeface="Arial" pitchFamily="34" charset="-120"/>
              </a:rPr>
              <a:t>Próxima semana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 Inventario y clasificación de datos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Cada grupo comenzará a construir el inventario y el mapa de flujos de datos personales de su caso, conectando con lo visto el jueves en la línea jurídica (J1).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</TotalTime>
  <Words>1438</Words>
  <Application>Microsoft Office PowerPoint</Application>
  <PresentationFormat>Panorámica</PresentationFormat>
  <Paragraphs>205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</vt:lpstr>
      <vt:lpstr>Trebuchet MS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Ayrton</cp:lastModifiedBy>
  <cp:revision>4</cp:revision>
  <dcterms:created xsi:type="dcterms:W3CDTF">2026-09-01T22:30:57Z</dcterms:created>
  <dcterms:modified xsi:type="dcterms:W3CDTF">2026-09-11T01:20:29Z</dcterms:modified>
</cp:coreProperties>
</file>