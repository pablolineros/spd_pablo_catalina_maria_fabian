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1"/>
  </p:notesMasterIdLst>
  <p:sldIdLst>
    <p:sldId id="277" r:id="rId2"/>
    <p:sldId id="27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F9139-2AF4-4EDA-A05E-9E3791F2552A}" type="datetimeFigureOut">
              <a:rPr lang="es-CL" smtClean="0"/>
              <a:t>24-09-2026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65375-A51D-4D46-B755-FA1901D391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1031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9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5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5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09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5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9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12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6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56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4047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8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6069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13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97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22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44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2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2560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de Datos Personales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es, dónde y por qué se aplica, sus tipos, y cómo elegir la técnica correcta para los datos sensibles de su proyecto integrador.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de la sesión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el cifrado?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vs. hashing: una distinción que hay que tener clara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se aplica el cifrado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se aplica: razones legales, técnicas y de negocio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simétrico y cifrado asimétrico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Hashing y tokenización como técnicas complementarias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llaves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investigativa: elegir e implementar la técnica correcta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¿Qué es el cifrado?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Transforma información legible en una representación ilegible usando un algoritmo y una llave.</a:t>
            </a:r>
          </a:p>
        </p:txBody>
      </p:sp>
      <p:pic>
        <p:nvPicPr>
          <p:cNvPr id="7" name="Picture 6" descr="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194560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108960" y="2377440"/>
            <a:ext cx="21488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254203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Texto plano</a:t>
            </a:r>
          </a:p>
        </p:txBody>
      </p:sp>
      <p:sp>
        <p:nvSpPr>
          <p:cNvPr id="10" name="Chevron 9"/>
          <p:cNvSpPr/>
          <p:nvPr/>
        </p:nvSpPr>
        <p:spPr>
          <a:xfrm>
            <a:off x="5349240" y="262432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0" y="2377440"/>
            <a:ext cx="21488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254203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Algoritmo + llave</a:t>
            </a:r>
          </a:p>
        </p:txBody>
      </p:sp>
      <p:sp>
        <p:nvSpPr>
          <p:cNvPr id="13" name="Chevron 12"/>
          <p:cNvSpPr/>
          <p:nvPr/>
        </p:nvSpPr>
        <p:spPr>
          <a:xfrm>
            <a:off x="7909560" y="262432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2377440"/>
            <a:ext cx="21488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54203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Texto cifrado</a:t>
            </a:r>
          </a:p>
        </p:txBody>
      </p:sp>
      <p:pic>
        <p:nvPicPr>
          <p:cNvPr id="16" name="Picture 15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727" y="2187702"/>
            <a:ext cx="1266444" cy="12664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4343400"/>
            <a:ext cx="1033272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13D"/>
                </a:solidFill>
              </a:defRPr>
            </a:pPr>
            <a:r>
              <a:t>Texto plano (plaintext): dato original y legible.</a:t>
            </a:r>
          </a:p>
          <a:p>
            <a:pPr>
              <a:spcAft>
                <a:spcPts val="800"/>
              </a:spcAft>
              <a:defRPr sz="1500">
                <a:solidFill>
                  <a:srgbClr val="26313D"/>
                </a:solidFill>
              </a:defRPr>
            </a:pPr>
            <a:r>
              <a:t>Texto cifrado (ciphertext): resultado protegido.</a:t>
            </a:r>
          </a:p>
          <a:p>
            <a:pPr>
              <a:spcAft>
                <a:spcPts val="800"/>
              </a:spcAft>
              <a:defRPr sz="1500">
                <a:solidFill>
                  <a:srgbClr val="26313D"/>
                </a:solidFill>
              </a:defRPr>
            </a:pPr>
            <a:r>
              <a:t>Algoritmo: método matemático que realiza la transformación.</a:t>
            </a:r>
          </a:p>
          <a:p>
            <a:pPr>
              <a:spcAft>
                <a:spcPts val="800"/>
              </a:spcAft>
              <a:defRPr sz="1500">
                <a:solidFill>
                  <a:srgbClr val="26313D"/>
                </a:solidFill>
              </a:defRPr>
            </a:pPr>
            <a:r>
              <a:t>Llave (key): parámetro secreto que determina el resultado.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Cifrado ≠ hashing ≠ tokenización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Las tres técnicas protegen datos, pero resuelven problemas diferentes.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1920240" cy="5029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Técnica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874519"/>
            <a:ext cx="1920240" cy="5029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¿Se recupera?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874519"/>
            <a:ext cx="3108960" cy="5029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Objetivo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19" y="1874519"/>
            <a:ext cx="3840480" cy="5029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Ejemplo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39"/>
            <a:ext cx="1920240" cy="841248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Cifrado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377439"/>
            <a:ext cx="1920240" cy="841248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Sí, con la llave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377439"/>
            <a:ext cx="3108960" cy="841248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Recuperar el dato original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19" y="2377439"/>
            <a:ext cx="3840480" cy="841248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Diagnóstico médico almacenado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18687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Hashing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218687"/>
            <a:ext cx="192024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218687"/>
            <a:ext cx="310896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Comparar/verificar sin recuperar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19" y="3218687"/>
            <a:ext cx="3840480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Contraseñas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59935"/>
            <a:ext cx="1920240" cy="841248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Tokenización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4059935"/>
            <a:ext cx="1920240" cy="841248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Sí, mediante un vault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59935"/>
            <a:ext cx="3108960" cy="841248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Sustituir un dato sensible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19" y="4059935"/>
            <a:ext cx="3840480" cy="841248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Tarjetas de pago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¿Dónde se aplica el cifrado?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La protección debe pensarse durante todo el ciclo de vida del dato.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993392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20116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En reposo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2971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Bases de datos, archivos y respaldos.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383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993392"/>
            <a:ext cx="438912" cy="438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09160" y="20116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En tránsito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87168"/>
            <a:ext cx="2971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Comunicación entre cliente/servidor y entre servicios.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828800"/>
            <a:ext cx="3383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2" y="1993392"/>
            <a:ext cx="438912" cy="438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03920" y="201168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En uso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87168"/>
            <a:ext cx="2971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Datos procesados activamente por la aplicación.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3246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77584"/>
                </a:solidFill>
              </a:defRPr>
            </a:pPr>
            <a:r>
              <a:t>Ej.: ficha clínica almacenada en una base de datos.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006653"/>
            <a:ext cx="3246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77584"/>
                </a:solidFill>
              </a:defRPr>
            </a:pPr>
            <a:r>
              <a:rPr dirty="0" err="1"/>
              <a:t>Ej</a:t>
            </a:r>
            <a:r>
              <a:rPr dirty="0"/>
              <a:t>.: </a:t>
            </a:r>
            <a:r>
              <a:rPr dirty="0" err="1"/>
              <a:t>transferencia</a:t>
            </a:r>
            <a:r>
              <a:rPr dirty="0"/>
              <a:t> </a:t>
            </a:r>
            <a:r>
              <a:rPr dirty="0" err="1"/>
              <a:t>protegida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HTTPS/TLS.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7392" y="4984106"/>
            <a:ext cx="409118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77584"/>
                </a:solidFill>
              </a:defRPr>
            </a:pPr>
            <a:r>
              <a:rPr dirty="0"/>
              <a:t>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difícil</a:t>
            </a:r>
            <a:r>
              <a:rPr dirty="0"/>
              <a:t> de </a:t>
            </a:r>
            <a:r>
              <a:rPr dirty="0" err="1"/>
              <a:t>proteger</a:t>
            </a:r>
            <a:r>
              <a:rPr dirty="0"/>
              <a:t> y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requerir</a:t>
            </a:r>
            <a:r>
              <a:rPr dirty="0"/>
              <a:t> </a:t>
            </a:r>
            <a:r>
              <a:rPr dirty="0" err="1"/>
              <a:t>técnicas</a:t>
            </a:r>
            <a:endParaRPr lang="es-MX" dirty="0"/>
          </a:p>
          <a:p>
            <a:pPr algn="ctr">
              <a:defRPr sz="1100">
                <a:solidFill>
                  <a:srgbClr val="677584"/>
                </a:solidFill>
              </a:defRPr>
            </a:pPr>
            <a:r>
              <a:rPr dirty="0" err="1"/>
              <a:t>avanzadas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¿Por qué aplicar cifrado?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rPr dirty="0"/>
              <a:t>La </a:t>
            </a:r>
            <a:r>
              <a:rPr dirty="0" err="1"/>
              <a:t>justificación</a:t>
            </a:r>
            <a:r>
              <a:rPr dirty="0"/>
              <a:t>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legales</a:t>
            </a:r>
            <a:r>
              <a:rPr dirty="0"/>
              <a:t>, </a:t>
            </a:r>
            <a:r>
              <a:rPr dirty="0" err="1"/>
              <a:t>protección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y </a:t>
            </a:r>
            <a:r>
              <a:rPr dirty="0" err="1"/>
              <a:t>continuidad</a:t>
            </a:r>
            <a:r>
              <a:rPr dirty="0"/>
              <a:t> del </a:t>
            </a:r>
            <a:r>
              <a:rPr dirty="0" err="1"/>
              <a:t>negocio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Razones legales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30632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El material base relaciona el cifrado con el deber de diligencia, secreto y seguridad en el tratamiento de datos personales.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01168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Razones técnicas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87168"/>
            <a:ext cx="30632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Defensa en profundidad: incluso si se compromete un perímetro o se extrae una base, el dato protegido no queda inmediatamente legible.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0183" y="201168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Razones de negocio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487168"/>
            <a:ext cx="306323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Reduce el impacto de una brecha y contribuye a la confianza de usuarios y clientes.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7539243" cy="5770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77584"/>
                </a:solidFill>
              </a:defRPr>
            </a:pPr>
            <a:r>
              <a:rPr dirty="0"/>
              <a:t>Material base: Ley 19.628 (arts. 7 y 11) y Ley 21.719. La </a:t>
            </a:r>
            <a:r>
              <a:rPr dirty="0" err="1"/>
              <a:t>norma</a:t>
            </a:r>
            <a:r>
              <a:rPr dirty="0"/>
              <a:t> no se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una </a:t>
            </a:r>
            <a:r>
              <a:rPr dirty="0" err="1"/>
              <a:t>lista</a:t>
            </a:r>
            <a:r>
              <a:rPr dirty="0"/>
              <a:t> de </a:t>
            </a:r>
            <a:r>
              <a:rPr dirty="0" err="1"/>
              <a:t>algoritmos</a:t>
            </a:r>
            <a:r>
              <a:rPr dirty="0"/>
              <a:t> </a:t>
            </a:r>
            <a:r>
              <a:rPr dirty="0" err="1"/>
              <a:t>obligatorios</a:t>
            </a:r>
            <a:r>
              <a:rPr dirty="0"/>
              <a:t>, </a:t>
            </a:r>
            <a:endParaRPr lang="es-MX" dirty="0"/>
          </a:p>
          <a:p>
            <a:pPr>
              <a:defRPr sz="1050">
                <a:solidFill>
                  <a:srgbClr val="677584"/>
                </a:solidFill>
              </a:defRPr>
            </a:pPr>
            <a:endParaRPr lang="es-CL" dirty="0"/>
          </a:p>
          <a:p>
            <a:pPr>
              <a:defRPr sz="1050">
                <a:solidFill>
                  <a:srgbClr val="677584"/>
                </a:solidFill>
              </a:defRPr>
            </a:pPr>
            <a:r>
              <a:rPr dirty="0" err="1"/>
              <a:t>sino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una </a:t>
            </a:r>
            <a:r>
              <a:rPr dirty="0" err="1"/>
              <a:t>exigencia</a:t>
            </a:r>
            <a:r>
              <a:rPr dirty="0"/>
              <a:t> de </a:t>
            </a:r>
            <a:r>
              <a:rPr dirty="0" err="1"/>
              <a:t>protección</a:t>
            </a:r>
            <a:r>
              <a:rPr dirty="0"/>
              <a:t> </a:t>
            </a:r>
            <a:r>
              <a:rPr dirty="0" err="1"/>
              <a:t>adecuada</a:t>
            </a:r>
            <a:r>
              <a:rPr dirty="0"/>
              <a:t> al </a:t>
            </a:r>
            <a:r>
              <a:rPr dirty="0" err="1"/>
              <a:t>riesgo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Cifrado simétrico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Una misma llave se utiliza para cifrar y descifrar.</a:t>
            </a:r>
          </a:p>
        </p:txBody>
      </p:sp>
      <p:pic>
        <p:nvPicPr>
          <p:cNvPr id="7" name="Picture 6" descr="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48215"/>
            <a:ext cx="1920240" cy="1920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148840" y="2391156"/>
            <a:ext cx="16916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0" y="2516823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rPr dirty="0"/>
              <a:t>Dato</a:t>
            </a:r>
          </a:p>
        </p:txBody>
      </p:sp>
      <p:sp>
        <p:nvSpPr>
          <p:cNvPr id="10" name="Chevron 9"/>
          <p:cNvSpPr/>
          <p:nvPr/>
        </p:nvSpPr>
        <p:spPr>
          <a:xfrm>
            <a:off x="3863340" y="2603754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0520" y="2377440"/>
            <a:ext cx="16916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2542032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AES + K</a:t>
            </a:r>
          </a:p>
        </p:txBody>
      </p:sp>
      <p:sp>
        <p:nvSpPr>
          <p:cNvPr id="13" name="Chevron 12"/>
          <p:cNvSpPr/>
          <p:nvPr/>
        </p:nvSpPr>
        <p:spPr>
          <a:xfrm>
            <a:off x="5943599" y="262432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2377440"/>
            <a:ext cx="16916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542032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Dato cifrado</a:t>
            </a:r>
          </a:p>
        </p:txBody>
      </p:sp>
      <p:sp>
        <p:nvSpPr>
          <p:cNvPr id="16" name="Chevron 15"/>
          <p:cNvSpPr/>
          <p:nvPr/>
        </p:nvSpPr>
        <p:spPr>
          <a:xfrm>
            <a:off x="8046720" y="262432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66760" y="2377440"/>
            <a:ext cx="16916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542032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AES + K</a:t>
            </a:r>
          </a:p>
        </p:txBody>
      </p:sp>
      <p:sp>
        <p:nvSpPr>
          <p:cNvPr id="19" name="Chevron 18"/>
          <p:cNvSpPr/>
          <p:nvPr/>
        </p:nvSpPr>
        <p:spPr>
          <a:xfrm>
            <a:off x="10149840" y="262432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47020" y="2389058"/>
            <a:ext cx="16916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47020" y="2624328"/>
            <a:ext cx="1508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rPr dirty="0"/>
              <a:t>Dato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5262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Ventajas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017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Muy rápido y adecuado para grandes volúmenes.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3434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45262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Desventaja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0017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La llave debe compartirse y protegerse de forma segura.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34340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45262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Algoritmos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0017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AES es el referente moderno del material. 3DES se presenta como legado y en desuso.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Cifrado asimétrico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Utiliza un par de llaves relacionadas: pública y privada.</a:t>
            </a:r>
          </a:p>
        </p:txBody>
      </p:sp>
      <p:pic>
        <p:nvPicPr>
          <p:cNvPr id="7" name="Picture 6" descr="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1737360" cy="1737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560320" y="173736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920240"/>
            <a:ext cx="3337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Llave pública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395728"/>
            <a:ext cx="33375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Puede compartirse. Se utiliza para cifrar o verificar, según el mecanismo.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737360"/>
            <a:ext cx="374903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1920240"/>
            <a:ext cx="3337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Llave privada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395728"/>
            <a:ext cx="33375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Debe mantenerse en secreto. Permite descifrar lo cifrado para su par o participar en firmas.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566160"/>
            <a:ext cx="19202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37307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Pública</a:t>
            </a:r>
          </a:p>
        </p:txBody>
      </p:sp>
      <p:sp>
        <p:nvSpPr>
          <p:cNvPr id="18" name="Chevron 17"/>
          <p:cNvSpPr/>
          <p:nvPr/>
        </p:nvSpPr>
        <p:spPr>
          <a:xfrm>
            <a:off x="4937760" y="381304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57800" y="3566160"/>
            <a:ext cx="19202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49240" y="37307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Mensaje cifrado</a:t>
            </a:r>
          </a:p>
        </p:txBody>
      </p:sp>
      <p:sp>
        <p:nvSpPr>
          <p:cNvPr id="21" name="Chevron 20"/>
          <p:cNvSpPr/>
          <p:nvPr/>
        </p:nvSpPr>
        <p:spPr>
          <a:xfrm>
            <a:off x="7269479" y="381304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589520" y="3566160"/>
            <a:ext cx="19202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37307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Privada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9204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07492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RSA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50407"/>
            <a:ext cx="292607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Algoritmo histórico y ampliamente conocido.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89204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507492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ECC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550407"/>
            <a:ext cx="292607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Consigue niveles comparables de seguridad con llaves más pequeñas.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89204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507492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Limitación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5550407"/>
            <a:ext cx="292607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Más lento que el simétrico para grandes volúmenes.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El enfoque híbrido: asimétrico + simétrico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La combinación permite aprovechar la distribución de llaves y la velocidad.</a:t>
            </a:r>
          </a:p>
        </p:txBody>
      </p:sp>
      <p:pic>
        <p:nvPicPr>
          <p:cNvPr id="7" name="Picture 6" descr="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286000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926080" y="2377440"/>
            <a:ext cx="233172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2542032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Intercambio seguro</a:t>
            </a:r>
          </a:p>
        </p:txBody>
      </p:sp>
      <p:sp>
        <p:nvSpPr>
          <p:cNvPr id="10" name="Chevron 9"/>
          <p:cNvSpPr/>
          <p:nvPr/>
        </p:nvSpPr>
        <p:spPr>
          <a:xfrm>
            <a:off x="5349240" y="262432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0" y="2377440"/>
            <a:ext cx="233172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2542032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Llave de sesión</a:t>
            </a:r>
          </a:p>
        </p:txBody>
      </p:sp>
      <p:sp>
        <p:nvSpPr>
          <p:cNvPr id="13" name="Chevron 12"/>
          <p:cNvSpPr/>
          <p:nvPr/>
        </p:nvSpPr>
        <p:spPr>
          <a:xfrm>
            <a:off x="8092440" y="262432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0" y="2377440"/>
            <a:ext cx="233172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19" y="2542032"/>
            <a:ext cx="21488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Datos protegidos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77639"/>
            <a:ext cx="804672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6313D"/>
                </a:solidFill>
              </a:defRPr>
            </a:pPr>
            <a:r>
              <a:t>TLS, utilizado detrás de HTTPS, emplea mecanismos asimétricos para establecer de forma segura el material de sesión.</a:t>
            </a:r>
          </a:p>
          <a:p>
            <a:pPr>
              <a:spcAft>
                <a:spcPts val="800"/>
              </a:spcAft>
              <a:defRPr sz="1450">
                <a:solidFill>
                  <a:srgbClr val="26313D"/>
                </a:solidFill>
              </a:defRPr>
            </a:pPr>
            <a:r>
              <a:t>Después, la comunicación se protege con criptografía simétrica, mucho más eficiente.</a:t>
            </a:r>
          </a:p>
          <a:p>
            <a:pPr>
              <a:spcAft>
                <a:spcPts val="800"/>
              </a:spcAft>
              <a:defRPr sz="1450">
                <a:solidFill>
                  <a:srgbClr val="26313D"/>
                </a:solidFill>
              </a:defRPr>
            </a:pPr>
            <a:r>
              <a:t>Este patrón es especialmente importante al diseñar protección para datos en tránsito.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Hashing: proteger sin recuperar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El hash es una transformación unidireccional; no existe una llave para 'deshacerlo'.</a:t>
            </a:r>
          </a:p>
        </p:txBody>
      </p:sp>
      <p:pic>
        <p:nvPicPr>
          <p:cNvPr id="7" name="Picture 6" descr="h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210312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0" y="2423160"/>
            <a:ext cx="224028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25877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Contraseña</a:t>
            </a:r>
          </a:p>
        </p:txBody>
      </p:sp>
      <p:sp>
        <p:nvSpPr>
          <p:cNvPr id="10" name="Chevron 9"/>
          <p:cNvSpPr/>
          <p:nvPr/>
        </p:nvSpPr>
        <p:spPr>
          <a:xfrm>
            <a:off x="5074920" y="267004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94960" y="2423160"/>
            <a:ext cx="224028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25877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Función hash</a:t>
            </a:r>
          </a:p>
        </p:txBody>
      </p:sp>
      <p:sp>
        <p:nvSpPr>
          <p:cNvPr id="13" name="Chevron 12"/>
          <p:cNvSpPr/>
          <p:nvPr/>
        </p:nvSpPr>
        <p:spPr>
          <a:xfrm>
            <a:off x="7726680" y="267004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0" y="2423160"/>
            <a:ext cx="224028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25877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Hash almacenado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160519"/>
            <a:ext cx="2532888" cy="1576401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71800" y="43434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SHA-256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818888"/>
            <a:ext cx="20574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 err="1"/>
              <a:t>Útil</a:t>
            </a:r>
            <a:r>
              <a:rPr dirty="0"/>
              <a:t> para </a:t>
            </a:r>
            <a:r>
              <a:rPr dirty="0" err="1"/>
              <a:t>integridad</a:t>
            </a:r>
            <a:r>
              <a:rPr dirty="0"/>
              <a:t>; </a:t>
            </a:r>
            <a:r>
              <a:rPr dirty="0" err="1"/>
              <a:t>el</a:t>
            </a:r>
            <a:r>
              <a:rPr dirty="0"/>
              <a:t> material base no lo propone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función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 para </a:t>
            </a:r>
            <a:r>
              <a:rPr dirty="0" err="1"/>
              <a:t>contraseñas</a:t>
            </a:r>
            <a:r>
              <a:rPr dirty="0"/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4160520"/>
            <a:ext cx="2606040" cy="16733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43434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bcrypt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818888"/>
            <a:ext cx="20574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 err="1"/>
              <a:t>Diseñado</a:t>
            </a:r>
            <a:r>
              <a:rPr dirty="0"/>
              <a:t> para </a:t>
            </a:r>
            <a:r>
              <a:rPr dirty="0" err="1"/>
              <a:t>contraseñas</a:t>
            </a:r>
            <a:r>
              <a:rPr dirty="0"/>
              <a:t> y con </a:t>
            </a:r>
            <a:r>
              <a:rPr dirty="0" err="1"/>
              <a:t>costo</a:t>
            </a:r>
            <a:r>
              <a:rPr dirty="0"/>
              <a:t> configurable.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4160520"/>
            <a:ext cx="2765747" cy="16733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43434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Argon2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818888"/>
            <a:ext cx="20574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Diseñado para contraseñas y configurable frente a ataques de fuerza bruta.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Tokenización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Sustituye un dato sensible por un identificador sin valor fuera del sistema que lo emitió.</a:t>
            </a:r>
          </a:p>
        </p:txBody>
      </p:sp>
      <p:pic>
        <p:nvPicPr>
          <p:cNvPr id="7" name="Picture 6" descr="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64208"/>
            <a:ext cx="2194560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880360" y="2331720"/>
            <a:ext cx="21488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249631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Tarjeta real</a:t>
            </a:r>
          </a:p>
        </p:txBody>
      </p:sp>
      <p:sp>
        <p:nvSpPr>
          <p:cNvPr id="10" name="Chevron 9"/>
          <p:cNvSpPr/>
          <p:nvPr/>
        </p:nvSpPr>
        <p:spPr>
          <a:xfrm>
            <a:off x="5120640" y="257860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40680" y="2331720"/>
            <a:ext cx="21488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2120" y="249631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Vault / bóveda</a:t>
            </a:r>
          </a:p>
        </p:txBody>
      </p:sp>
      <p:sp>
        <p:nvSpPr>
          <p:cNvPr id="13" name="Chevron 12"/>
          <p:cNvSpPr/>
          <p:nvPr/>
        </p:nvSpPr>
        <p:spPr>
          <a:xfrm>
            <a:off x="7680960" y="2578608"/>
            <a:ext cx="228600" cy="365760"/>
          </a:xfrm>
          <a:prstGeom prst="chevron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01000" y="2331720"/>
            <a:ext cx="214884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24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249631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263A"/>
                </a:solidFill>
              </a:defRPr>
            </a:pPr>
            <a:r>
              <a:t>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406908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425196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Diferencia con cifrado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727448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El token no se descifra matemáticamente: se consulta el mapeo almacenado en una bóveda segura.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406908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425196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Uso típico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727448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Números de tarjeta en pasarelas de pago.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4069080"/>
            <a:ext cx="2377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98280" y="425196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Idea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72744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Sin acceso al vault, el token no revela el dato original.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Comparación rápida de técnicas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rPr dirty="0"/>
              <a:t>La </a:t>
            </a:r>
            <a:r>
              <a:rPr dirty="0" err="1"/>
              <a:t>elección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de 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utiliza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dato</a:t>
            </a:r>
            <a:r>
              <a:rPr dirty="0"/>
              <a:t>, no solo de </a:t>
            </a:r>
            <a:r>
              <a:rPr dirty="0" err="1"/>
              <a:t>qué</a:t>
            </a:r>
            <a:r>
              <a:rPr dirty="0"/>
              <a:t> tan 'sensible' </a:t>
            </a:r>
            <a:r>
              <a:rPr dirty="0" err="1"/>
              <a:t>parece</a:t>
            </a:r>
            <a:r>
              <a:rPr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1920240" cy="5029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Técnica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828800"/>
            <a:ext cx="1371600" cy="5029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¿Reversible?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828800"/>
            <a:ext cx="4663440" cy="5029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Uso típico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1828800"/>
            <a:ext cx="2743200" cy="50292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Ejemplos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31720"/>
            <a:ext cx="1920240" cy="777240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Simétrico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2331720"/>
            <a:ext cx="1371600" cy="777240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Sí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331720"/>
            <a:ext cx="4663440" cy="777240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Datos recuperables y grandes volúmenes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2331720"/>
            <a:ext cx="2743200" cy="777240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AES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08960"/>
            <a:ext cx="1920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Asimétrico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108960"/>
            <a:ext cx="13716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Sí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3108960"/>
            <a:ext cx="4663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Intercambio de llaves y firmas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3108960"/>
            <a:ext cx="27432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RSA / ECC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886200"/>
            <a:ext cx="1920240" cy="777240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Hash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886200"/>
            <a:ext cx="1371600" cy="777240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3886200"/>
            <a:ext cx="4663440" cy="777240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Contraseñas e integridad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3886200"/>
            <a:ext cx="2743200" cy="777240"/>
          </a:xfrm>
          <a:prstGeom prst="rect">
            <a:avLst/>
          </a:prstGeom>
          <a:solidFill>
            <a:srgbClr val="F4F7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bcrypt / Argon2 / SHA-256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663440"/>
            <a:ext cx="1920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Tokenización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4663440"/>
            <a:ext cx="13716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Vía vault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4663440"/>
            <a:ext cx="4663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Datos de pago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4663440"/>
            <a:ext cx="27432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6313D"/>
                </a:solidFill>
              </a:defRPr>
            </a:pPr>
            <a:r>
              <a:t>Token + bóveda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77584"/>
                </a:solidFill>
              </a:defRPr>
            </a:pPr>
            <a:r>
              <a:t>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Gestión de llaves: el punto crítico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Un algoritmo sólido pierde valor si las llaves se manejan mal.</a:t>
            </a:r>
          </a:p>
        </p:txBody>
      </p:sp>
      <p:pic>
        <p:nvPicPr>
          <p:cNvPr id="7" name="Picture 6" descr="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7088"/>
            <a:ext cx="210312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0" y="173736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92024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Nunca junto al dato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39572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Si la base y la llave están juntas, el atacante puede obtener ambos.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73736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192024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Nunca en el código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39572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Usar variables de entorno o servicios de gestión de secretos.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73736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192024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Rotación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9572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Definir rotación según sensibilidad y riesgo.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65760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384048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Separación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31596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Cuando sea posible, separar administración de llaves y datos.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65760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89320" y="384048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Acceso mínimo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315968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Limitar quién puede usar o administrar una llave.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657600"/>
            <a:ext cx="24688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06840" y="384048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Auditoría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31596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Registrar accesos y cambios relevantes.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Errores frecuentes en proyectos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Evitar estos patrones desde el diseño reduce problemas durante la implementación.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“Cifrar” contraseñas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000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Las contraseñas deben validarse mediante hashing apropiado, no guardarse reversiblemente.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2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Llaves hardcodeadas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5000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Una llave escrita en el repositorio termina formando parte del historial y puede filtrarse.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1188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Inventar criptografía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024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No diseñar algoritmos propios; utilizar primitivas y librerías reconocidas.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1188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79476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Una técnica para todo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27024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El tipo de dato y su uso determinan la técnica: no todo requiere la misma protección.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Ejemplos para el proyecto integrador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La técnica cambia según el uso que el sistema hace del dato.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Ficha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12263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Debe </a:t>
            </a:r>
            <a:r>
              <a:rPr dirty="0" err="1"/>
              <a:t>poder</a:t>
            </a:r>
            <a:r>
              <a:rPr dirty="0"/>
              <a:t> </a:t>
            </a:r>
            <a:r>
              <a:rPr dirty="0" err="1"/>
              <a:t>recuperarse</a:t>
            </a:r>
            <a:r>
              <a:rPr dirty="0"/>
              <a:t> para </a:t>
            </a:r>
            <a:r>
              <a:rPr dirty="0" err="1"/>
              <a:t>atención</a:t>
            </a:r>
            <a:r>
              <a:rPr dirty="0"/>
              <a:t> </a:t>
            </a:r>
            <a:r>
              <a:rPr dirty="0" err="1"/>
              <a:t>autorizada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645920"/>
            <a:ext cx="2834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182880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Técnica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171700"/>
            <a:ext cx="2423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 err="1"/>
              <a:t>Cifrado</a:t>
            </a:r>
            <a:r>
              <a:rPr dirty="0"/>
              <a:t> </a:t>
            </a:r>
            <a:r>
              <a:rPr dirty="0" err="1"/>
              <a:t>simétrico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675120" y="164592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182880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Ejemplo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157984"/>
            <a:ext cx="1965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AES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64592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6404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Pregunta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1180" y="2118026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¿</a:t>
            </a:r>
            <a:r>
              <a:rPr dirty="0" err="1"/>
              <a:t>Necesito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original?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74320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292608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Contraseña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" y="3202342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El </a:t>
            </a:r>
            <a:r>
              <a:rPr dirty="0" err="1"/>
              <a:t>sistema</a:t>
            </a:r>
            <a:r>
              <a:rPr dirty="0"/>
              <a:t> solo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comprobarla</a:t>
            </a:r>
            <a:r>
              <a:rPr dirty="0"/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1880" y="2743200"/>
            <a:ext cx="2834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0" y="292608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Técnica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3323843"/>
            <a:ext cx="2423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Hashing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274320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03720" y="292608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Ejemplo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0860" y="3353717"/>
            <a:ext cx="1965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 err="1"/>
              <a:t>bcrypt</a:t>
            </a:r>
            <a:r>
              <a:rPr dirty="0"/>
              <a:t> / Argon2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274320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64040" y="29260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Pregunta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1180" y="3216557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¿</a:t>
            </a:r>
            <a:r>
              <a:rPr dirty="0" err="1"/>
              <a:t>Necesito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original?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840480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402336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Tarjeta de pago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311396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Debe </a:t>
            </a:r>
            <a:r>
              <a:rPr dirty="0" err="1"/>
              <a:t>sustituirse</a:t>
            </a:r>
            <a:r>
              <a:rPr dirty="0"/>
              <a:t> por un </a:t>
            </a:r>
            <a:r>
              <a:rPr dirty="0" err="1"/>
              <a:t>identificador</a:t>
            </a:r>
            <a:r>
              <a:rPr dirty="0"/>
              <a:t> </a:t>
            </a:r>
            <a:r>
              <a:rPr dirty="0" err="1"/>
              <a:t>controlado</a:t>
            </a:r>
            <a:r>
              <a:rPr dirty="0"/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11880" y="3840480"/>
            <a:ext cx="2834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40480" y="402336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Técnica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7620" y="4398264"/>
            <a:ext cx="2423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Tokenización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384048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03720" y="402336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Ejemplo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4416864"/>
            <a:ext cx="1965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Token + vault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35440" y="3840480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64040" y="402336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rPr dirty="0" err="1"/>
              <a:t>Pregunta</a:t>
            </a:r>
            <a:endParaRPr dirty="0"/>
          </a:p>
        </p:txBody>
      </p:sp>
      <p:sp>
        <p:nvSpPr>
          <p:cNvPr id="54" name="TextBox 53"/>
          <p:cNvSpPr txBox="1"/>
          <p:nvPr/>
        </p:nvSpPr>
        <p:spPr>
          <a:xfrm>
            <a:off x="9441180" y="429768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¿</a:t>
            </a:r>
            <a:r>
              <a:rPr dirty="0" err="1"/>
              <a:t>Necesito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original?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937759"/>
            <a:ext cx="2743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" y="512064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Comunicación web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" y="5431284"/>
            <a:ext cx="2331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El </a:t>
            </a:r>
            <a:r>
              <a:rPr dirty="0" err="1"/>
              <a:t>dato</a:t>
            </a:r>
            <a:r>
              <a:rPr dirty="0"/>
              <a:t> </a:t>
            </a:r>
            <a:r>
              <a:rPr dirty="0" err="1"/>
              <a:t>viaja</a:t>
            </a:r>
            <a:r>
              <a:rPr dirty="0"/>
              <a:t> entre </a:t>
            </a:r>
            <a:r>
              <a:rPr dirty="0" err="1"/>
              <a:t>cliente</a:t>
            </a:r>
            <a:r>
              <a:rPr dirty="0"/>
              <a:t> y </a:t>
            </a:r>
            <a:r>
              <a:rPr dirty="0" err="1"/>
              <a:t>servidor</a:t>
            </a:r>
            <a:r>
              <a:rPr dirty="0"/>
              <a:t>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11880" y="4937759"/>
            <a:ext cx="2834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840480" y="512064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Técnica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0" y="5596127"/>
            <a:ext cx="2423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TLS / híbrido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75120" y="4937759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903720" y="512064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Ejemplo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67728" y="5499864"/>
            <a:ext cx="1965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HTTPS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40" y="4937759"/>
            <a:ext cx="2240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64040" y="51206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Pregunta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41180" y="542802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rPr dirty="0"/>
              <a:t>¿</a:t>
            </a:r>
            <a:r>
              <a:rPr dirty="0" err="1"/>
              <a:t>Necesito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original?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Actividad investigativa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Pasar de la teoría a una decisión justificable dentro del sistema.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60320"/>
            <a:ext cx="2514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Revisar el diccionario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7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Seleccionar campos sensibles o de alta sensibilidad.</a:t>
            </a:r>
          </a:p>
        </p:txBody>
      </p:sp>
      <p:sp>
        <p:nvSpPr>
          <p:cNvPr id="12" name="Chevron 11"/>
          <p:cNvSpPr/>
          <p:nvPr/>
        </p:nvSpPr>
        <p:spPr>
          <a:xfrm>
            <a:off x="3172968" y="3429000"/>
            <a:ext cx="274320" cy="411480"/>
          </a:xfrm>
          <a:prstGeom prst="chevron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74720" y="2560320"/>
            <a:ext cx="2514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27432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Elegir técnica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218687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Cifrado, asimétrico, hash o tokenización; justificar la elección.</a:t>
            </a:r>
          </a:p>
        </p:txBody>
      </p:sp>
      <p:sp>
        <p:nvSpPr>
          <p:cNvPr id="18" name="Chevron 17"/>
          <p:cNvSpPr/>
          <p:nvPr/>
        </p:nvSpPr>
        <p:spPr>
          <a:xfrm>
            <a:off x="6053327" y="3429000"/>
            <a:ext cx="274320" cy="411480"/>
          </a:xfrm>
          <a:prstGeom prst="chevron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55080" y="2560320"/>
            <a:ext cx="2514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27432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Investigar herramienta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18687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Seleccionar librería o servicio compatible con el lenguaje.</a:t>
            </a:r>
          </a:p>
        </p:txBody>
      </p:sp>
      <p:sp>
        <p:nvSpPr>
          <p:cNvPr id="24" name="Chevron 23"/>
          <p:cNvSpPr/>
          <p:nvPr/>
        </p:nvSpPr>
        <p:spPr>
          <a:xfrm>
            <a:off x="8933688" y="3429000"/>
            <a:ext cx="274320" cy="411480"/>
          </a:xfrm>
          <a:prstGeom prst="chevron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35440" y="2560320"/>
            <a:ext cx="2514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40" y="27432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Implementar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218687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Aplicar la protección a los campos correspondientes.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Ejemplo de decisión documentada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No basta con escribir “usaremos AES”: hay que explicar por qué.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Campo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Ficha clínica / diagnóstico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73736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Necesidad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El profesional autorizado debe recuperar el dato.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73736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1920240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Elección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395728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Cifrado simétrico para almacenamiento.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4612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Criterio técnico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04487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Se necesita reversibilidad y puede existir un volumen considerable de datos.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24612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3429000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Implementación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904487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Seleccionar una librería criptográfica del lenguaje y proteger la llave fuera del código.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3246120"/>
            <a:ext cx="3566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3429000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Evidencia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904487"/>
            <a:ext cx="31546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Captura/código + explicación del flujo + prueba de cifrado y recuperación.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118" y="5166360"/>
            <a:ext cx="9601200" cy="594360"/>
          </a:xfrm>
          <a:prstGeom prst="roundRect">
            <a:avLst/>
          </a:prstGeom>
          <a:solidFill>
            <a:srgbClr val="E5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63A"/>
                </a:solidFill>
              </a:defRPr>
            </a:pPr>
            <a:r>
              <a:t>La justificación debe conectar: dato → necesidad → técnica → herramienta → gestión de llaves → evidencia.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94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3A"/>
                </a:solidFill>
              </a:defRPr>
            </a:pPr>
            <a:r>
              <a:t>Entregable esperado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0700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584"/>
                </a:solidFill>
              </a:defRPr>
            </a:pPr>
            <a:r>
              <a:t>El resultado debe permitir revisar tanto la decisión como la implementación.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901952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192024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Tabla por campo sensible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4800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• Campo</a:t>
            </a:r>
            <a:br/>
            <a:r>
              <a:t>• Técnica elegida</a:t>
            </a:r>
            <a:br/>
            <a:r>
              <a:t>• Justificación técnica</a:t>
            </a:r>
            <a:br/>
            <a:r>
              <a:t>• Algoritmo o librería</a:t>
            </a:r>
            <a:br/>
            <a:r>
              <a:t>• Ubicación donde se protege</a:t>
            </a:r>
            <a:br/>
            <a:r>
              <a:t>• Observaciones de gestión de llaves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2120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1901952"/>
            <a:ext cx="438912" cy="438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192024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63A"/>
                </a:solidFill>
              </a:defRPr>
            </a:pPr>
            <a:r>
              <a:t>Implementación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95728"/>
            <a:ext cx="4800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6313D"/>
                </a:solidFill>
              </a:defRPr>
            </a:pPr>
            <a:r>
              <a:t>• Código fuente</a:t>
            </a:r>
            <a:br/>
            <a:r>
              <a:t>• Protección de los campos críticos</a:t>
            </a:r>
            <a:br/>
            <a:r>
              <a:t>• Evidencia de funcionamiento</a:t>
            </a:r>
            <a:br/>
            <a:r>
              <a:t>• Explicación de cómo se recupera o valida el dato</a:t>
            </a:r>
            <a:br/>
            <a:r>
              <a:t>• Evidencia de que las llaves/secretos no quedan expuestos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sesión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Privacidad desde el </a:t>
            </a:r>
            <a:r>
              <a:rPr lang="en-US" sz="17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 seudonimización, anonimización y control de acceso (RBAC), cerrando el bloque de controles técnicos antes de </a:t>
            </a:r>
            <a:r>
              <a:rPr lang="en-US" sz="17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1392</Words>
  <Application>Microsoft Office PowerPoint</Application>
  <PresentationFormat>Panorámica</PresentationFormat>
  <Paragraphs>236</Paragraphs>
  <Slides>19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Cifrado de Datos Personales - Versión Mejorada</dc:title>
  <dc:subject>Material docente sobre cifrado, hashing, tokenización y gestión de llaves</dc:subject>
  <dc:creator>Material docente</dc:creator>
  <cp:keywords/>
  <dc:description>generated using python-pptx</dc:description>
  <cp:lastModifiedBy>ay.cortesm@gmail.com</cp:lastModifiedBy>
  <cp:revision>3</cp:revision>
  <dcterms:created xsi:type="dcterms:W3CDTF">2013-01-27T09:14:16Z</dcterms:created>
  <dcterms:modified xsi:type="dcterms:W3CDTF">2026-09-25T02:07:38Z</dcterms:modified>
  <cp:category/>
</cp:coreProperties>
</file>